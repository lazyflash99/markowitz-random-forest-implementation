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5143500" cx="9144000"/>
  <p:notesSz cx="6858000" cy="9144000"/>
  <p:embeddedFontLst>
    <p:embeddedFont>
      <p:font typeface="Robot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F6AB2FA-8651-4296-9F3D-116103A776EF}">
  <a:tblStyle styleId="{3F6AB2FA-8651-4296-9F3D-116103A776E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hb487676568a655e_0_6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hb487676568a655e_0_6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hb487676568a655e_0_6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hb487676568a655e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hb487676568a655e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hb487676568a655e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hb487676568a655e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hb487676568a655e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hb487676568a655e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hb487676568a655e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hb487676568a655e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hb487676568a655e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hb487676568a655e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hb487676568a655e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hb487676568a655e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 and body">
    <p:bg>
      <p:bgPr>
        <a:solidFill>
          <a:srgbClr val="F7F6F2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09585" y="609586"/>
            <a:ext cx="79248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2230"/>
              </a:buClr>
              <a:buSzPts val="2400"/>
              <a:buFont typeface="Arial"/>
              <a:buNone/>
              <a:defRPr sz="2400">
                <a:solidFill>
                  <a:srgbClr val="1C223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09585" y="1173452"/>
            <a:ext cx="7924800" cy="3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40000"/>
              </a:lnSpc>
              <a:spcBef>
                <a:spcPts val="200"/>
              </a:spcBef>
              <a:spcAft>
                <a:spcPts val="0"/>
              </a:spcAft>
              <a:buClr>
                <a:srgbClr val="1C2230"/>
              </a:buClr>
              <a:buSzPts val="1200"/>
              <a:buNone/>
              <a:defRPr sz="1200">
                <a:solidFill>
                  <a:srgbClr val="1C223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/>
          <p:nvPr>
            <p:ph type="title"/>
          </p:nvPr>
        </p:nvSpPr>
        <p:spPr>
          <a:xfrm>
            <a:off x="609585" y="1497968"/>
            <a:ext cx="8162700" cy="5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ct val="100000"/>
              <a:buFont typeface="Arial"/>
              <a:buNone/>
            </a:pPr>
            <a:r>
              <a:rPr b="1" i="0" lang="en" sz="3900">
                <a:solidFill>
                  <a:srgbClr val="1E40AF"/>
                </a:solidFill>
                <a:latin typeface="Arial"/>
                <a:ea typeface="Arial"/>
                <a:cs typeface="Arial"/>
                <a:sym typeface="Arial"/>
              </a:rPr>
              <a:t>Markowitz Random Forest</a:t>
            </a:r>
            <a:endParaRPr sz="3900">
              <a:solidFill>
                <a:srgbClr val="1E40AF"/>
              </a:solidFill>
            </a:endParaRPr>
          </a:p>
        </p:txBody>
      </p:sp>
      <p:sp>
        <p:nvSpPr>
          <p:cNvPr id="59" name="Google Shape;59;p14"/>
          <p:cNvSpPr/>
          <p:nvPr/>
        </p:nvSpPr>
        <p:spPr>
          <a:xfrm>
            <a:off x="609585" y="2070045"/>
            <a:ext cx="81627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DB4F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rgbClr val="1E40AF"/>
                </a:solidFill>
                <a:latin typeface="Arial"/>
                <a:ea typeface="Arial"/>
                <a:cs typeface="Arial"/>
                <a:sym typeface="Arial"/>
              </a:rPr>
              <a:t>Weighting decision trees with Modern Portfolio Theory</a:t>
            </a:r>
            <a:endParaRPr b="0" i="0" sz="1700" u="none" cap="none" strike="noStrike">
              <a:solidFill>
                <a:srgbClr val="1E40A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4"/>
          <p:cNvSpPr/>
          <p:nvPr/>
        </p:nvSpPr>
        <p:spPr>
          <a:xfrm>
            <a:off x="622952" y="3799966"/>
            <a:ext cx="8162700" cy="5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8BFCC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rPr>
              <a:t>Arghya Ojha - 240150004</a:t>
            </a:r>
            <a:endParaRPr sz="1300">
              <a:solidFill>
                <a:srgbClr val="0F172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8BFCC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rPr>
              <a:t>Mohammad Shafqat Jabbar - 240150019</a:t>
            </a:r>
            <a:endParaRPr sz="1300">
              <a:solidFill>
                <a:srgbClr val="0F172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b="1" lang="en" sz="1800">
                <a:solidFill>
                  <a:srgbClr val="1E40A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1. Introduction &amp; Motivation</a:t>
            </a:r>
            <a:endParaRPr b="1" sz="1800">
              <a:solidFill>
                <a:srgbClr val="1E40A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solidFill>
                  <a:srgbClr val="0F172A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The Traditional Random Forest Paradigm</a:t>
            </a:r>
            <a:endParaRPr sz="1250">
              <a:solidFill>
                <a:srgbClr val="0F172A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475569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Random Forest (RF) is an ensemble algorithm. By default, it combines individual decision trees through </a:t>
            </a:r>
            <a:r>
              <a:rPr b="1" lang="en" sz="1100">
                <a:solidFill>
                  <a:srgbClr val="0F172A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uniform voting / averaging</a:t>
            </a:r>
            <a:endParaRPr b="1" sz="1100">
              <a:solidFill>
                <a:srgbClr val="0F172A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0F172A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solidFill>
                  <a:srgbClr val="0F172A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The core bottlenecks</a:t>
            </a:r>
            <a:endParaRPr sz="1250">
              <a:solidFill>
                <a:srgbClr val="0F172A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spcBef>
                <a:spcPts val="40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Roboto"/>
              <a:buChar char="●"/>
            </a:pPr>
            <a:r>
              <a:rPr b="1" lang="en" sz="1100">
                <a:solidFill>
                  <a:srgbClr val="0F172A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Unequal Tree Quality:</a:t>
            </a:r>
            <a:r>
              <a:rPr lang="en" sz="1100">
                <a:solidFill>
                  <a:srgbClr val="475569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As each tree is trained on different random data and features, some trees turn out much smarter and more reliable than others. Giving a weak tree and a strong tree the exact same voting power is inefficient.</a:t>
            </a:r>
            <a:endParaRPr sz="1100">
              <a:solidFill>
                <a:srgbClr val="475569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Roboto"/>
              <a:buChar char="●"/>
            </a:pPr>
            <a:r>
              <a:rPr b="1" lang="en" sz="1100">
                <a:solidFill>
                  <a:srgbClr val="0F172A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The Diversity Dilemma:</a:t>
            </a:r>
            <a:r>
              <a:rPr lang="en" sz="1100">
                <a:solidFill>
                  <a:srgbClr val="475569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Prior tree-weighting heuristics (e.g. SWRF, OWRF) assign weights strictly based on </a:t>
            </a:r>
            <a:r>
              <a:rPr i="1" lang="en" sz="1100">
                <a:solidFill>
                  <a:srgbClr val="475569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individual tree accuracy</a:t>
            </a:r>
            <a:r>
              <a:rPr lang="en" sz="1100">
                <a:solidFill>
                  <a:srgbClr val="475569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.</a:t>
            </a:r>
            <a:endParaRPr sz="1100">
              <a:solidFill>
                <a:srgbClr val="475569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Roboto"/>
              <a:buChar char="●"/>
            </a:pPr>
            <a:r>
              <a:rPr b="1" lang="en" sz="1100">
                <a:solidFill>
                  <a:srgbClr val="0F172A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Why Individual Accuracy Fails:</a:t>
            </a:r>
            <a:r>
              <a:rPr lang="en" sz="1100">
                <a:solidFill>
                  <a:srgbClr val="475569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High-performing trees often make </a:t>
            </a:r>
            <a:r>
              <a:rPr i="1" lang="en" sz="1100">
                <a:solidFill>
                  <a:srgbClr val="475569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identical, correlated errors</a:t>
            </a:r>
            <a:r>
              <a:rPr lang="en" sz="1100">
                <a:solidFill>
                  <a:srgbClr val="475569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on challenging edge cases. Weighting only the top trees destroys ensemble diversity and degrades generalization.</a:t>
            </a:r>
            <a:endParaRPr sz="1100">
              <a:solidFill>
                <a:srgbClr val="475569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0F172A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The Research Paper poses the question:</a:t>
            </a:r>
            <a:r>
              <a:rPr lang="en" sz="1100">
                <a:solidFill>
                  <a:srgbClr val="475569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Can we formulate tree weighting as an optimization problem that rewards accurate trees while explicitly penalizing trees that make the same mistakes?</a:t>
            </a:r>
            <a:endParaRPr sz="1100">
              <a:solidFill>
                <a:srgbClr val="475569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/>
          <p:nvPr/>
        </p:nvSpPr>
        <p:spPr>
          <a:xfrm>
            <a:off x="427625" y="1993125"/>
            <a:ext cx="8099700" cy="3717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C9DA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1E40AF"/>
                </a:solidFill>
                <a:highlight>
                  <a:srgbClr val="C9DAF8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baseline="-25000" lang="en" sz="1150">
                <a:solidFill>
                  <a:srgbClr val="1E40AF"/>
                </a:solidFill>
                <a:highlight>
                  <a:srgbClr val="C9DAF8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lang="en" sz="1150">
                <a:solidFill>
                  <a:srgbClr val="1E40AF"/>
                </a:solidFill>
                <a:highlight>
                  <a:srgbClr val="C9DAF8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= 1 / k   (∀ j = 1, …, k)</a:t>
            </a:r>
            <a:endParaRPr>
              <a:solidFill>
                <a:srgbClr val="1E40AF"/>
              </a:solidFill>
              <a:highlight>
                <a:srgbClr val="C9DAF8"/>
              </a:highligh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b="1" lang="en" sz="1800">
                <a:solidFill>
                  <a:srgbClr val="1E40A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2. The Proposed Idea: Portfolio Theory Analogy</a:t>
            </a:r>
            <a:endParaRPr b="1" sz="1800">
              <a:solidFill>
                <a:srgbClr val="1E40A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solidFill>
                  <a:srgbClr val="0F172A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Markowitz Modern Portfolio Theory (MPT / MVA)</a:t>
            </a:r>
            <a:endParaRPr sz="1250">
              <a:solidFill>
                <a:srgbClr val="0F172A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475569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Harry Markowitz (Nobel Laureate, 1952) showed that an optimal investment portfolio does not merely pick the highest-return stocks; it </a:t>
            </a:r>
            <a:r>
              <a:rPr b="1" lang="en" sz="1100">
                <a:solidFill>
                  <a:srgbClr val="0F172A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diversifies risk</a:t>
            </a:r>
            <a:r>
              <a:rPr lang="en" sz="1100">
                <a:solidFill>
                  <a:srgbClr val="475569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across uncorrelated assets to minimize overall volatility.</a:t>
            </a:r>
            <a:endParaRPr sz="1100">
              <a:solidFill>
                <a:srgbClr val="475569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50">
                <a:solidFill>
                  <a:srgbClr val="0F172A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Finance to Machine Learning Mapping</a:t>
            </a:r>
            <a:endParaRPr sz="1250">
              <a:solidFill>
                <a:srgbClr val="0F172A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50">
              <a:solidFill>
                <a:srgbClr val="0F172A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74" name="Google Shape;74;p16"/>
          <p:cNvGraphicFramePr/>
          <p:nvPr/>
        </p:nvGraphicFramePr>
        <p:xfrm>
          <a:off x="432094" y="2308557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{3F6AB2FA-8651-4296-9F3D-116103A776EF}</a:tableStyleId>
              </a:tblPr>
              <a:tblGrid>
                <a:gridCol w="2438400"/>
                <a:gridCol w="3590925"/>
              </a:tblGrid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F172A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Modern Portfolio Theory (Finance)</a:t>
                      </a:r>
                      <a:endParaRPr sz="1000">
                        <a:solidFill>
                          <a:srgbClr val="0F172A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57150" marB="57150" marR="95250" marL="9525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F172A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Markowitz Random Forest (Machine Learning)</a:t>
                      </a:r>
                      <a:endParaRPr sz="1000">
                        <a:solidFill>
                          <a:srgbClr val="0F172A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57150" marB="57150" marR="95250" marL="9525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0F172A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Financial Assets</a:t>
                      </a:r>
                      <a:endParaRPr b="1" sz="1000">
                        <a:solidFill>
                          <a:srgbClr val="0F172A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57150" marB="57150" marR="95250" marL="9525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75569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Individual Decision Trees in the Forest (j = 1, …, k)</a:t>
                      </a:r>
                      <a:endParaRPr sz="1000">
                        <a:solidFill>
                          <a:srgbClr val="475569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57150" marB="57150" marR="95250" marL="9525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0F172A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Asset Weights (w)</a:t>
                      </a:r>
                      <a:endParaRPr b="1" sz="1000">
                        <a:solidFill>
                          <a:srgbClr val="0F172A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57150" marB="57150" marR="95250" marL="9525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75569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Tree Voting / Aggregation Weights (w</a:t>
                      </a:r>
                      <a:r>
                        <a:rPr baseline="-25000" lang="en" sz="1000">
                          <a:solidFill>
                            <a:srgbClr val="475569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j</a:t>
                      </a:r>
                      <a:r>
                        <a:rPr lang="en" sz="1000">
                          <a:solidFill>
                            <a:srgbClr val="475569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 ≥ 0, ∑ w</a:t>
                      </a:r>
                      <a:r>
                        <a:rPr baseline="-25000" lang="en" sz="1000">
                          <a:solidFill>
                            <a:srgbClr val="475569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j</a:t>
                      </a:r>
                      <a:r>
                        <a:rPr lang="en" sz="1000">
                          <a:solidFill>
                            <a:srgbClr val="475569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 = 1)</a:t>
                      </a:r>
                      <a:endParaRPr sz="1000">
                        <a:solidFill>
                          <a:srgbClr val="475569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57150" marB="57150" marR="95250" marL="9525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0F172A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Expected Return (μ)</a:t>
                      </a:r>
                      <a:endParaRPr b="1" sz="1000">
                        <a:solidFill>
                          <a:srgbClr val="0F172A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57150" marB="57150" marR="95250" marL="9525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75569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Out-of-Bag (OOB) Performance Score (r</a:t>
                      </a:r>
                      <a:r>
                        <a:rPr baseline="-25000" lang="en" sz="1000">
                          <a:solidFill>
                            <a:srgbClr val="475569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j</a:t>
                      </a:r>
                      <a:r>
                        <a:rPr lang="en" sz="1000">
                          <a:solidFill>
                            <a:srgbClr val="475569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)</a:t>
                      </a:r>
                      <a:endParaRPr sz="1000">
                        <a:solidFill>
                          <a:srgbClr val="475569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57150" marB="57150" marR="95250" marL="9525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0F172A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Asset Covariance Matrix (Σ)</a:t>
                      </a:r>
                      <a:endParaRPr b="1" sz="1000">
                        <a:solidFill>
                          <a:srgbClr val="0F172A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57150" marB="57150" marR="95250" marL="9525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75569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Pairwise Tree Mistake Risk Matrix (K)</a:t>
                      </a:r>
                      <a:endParaRPr sz="1000">
                        <a:solidFill>
                          <a:srgbClr val="475569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57150" marB="57150" marR="95250" marL="9525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0F172A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Portfolio Risk (w</a:t>
                      </a:r>
                      <a:r>
                        <a:rPr b="1" baseline="30000" lang="en" sz="1000">
                          <a:solidFill>
                            <a:srgbClr val="0F172A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T</a:t>
                      </a:r>
                      <a:r>
                        <a:rPr b="1" lang="en" sz="1000">
                          <a:solidFill>
                            <a:srgbClr val="0F172A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 Σ w)</a:t>
                      </a:r>
                      <a:endParaRPr b="1" sz="1000">
                        <a:solidFill>
                          <a:srgbClr val="0F172A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57150" marB="57150" marR="95250" marL="9525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75569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Joint participation of trees making correlated mistakes</a:t>
                      </a:r>
                      <a:endParaRPr sz="1000">
                        <a:solidFill>
                          <a:srgbClr val="475569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57150" marB="57150" marR="95250" marL="9525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5" name="Google Shape;75;p16"/>
          <p:cNvSpPr txBox="1"/>
          <p:nvPr/>
        </p:nvSpPr>
        <p:spPr>
          <a:xfrm>
            <a:off x="379300" y="3790825"/>
            <a:ext cx="85563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rgbClr val="0F172A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None/>
            </a:pPr>
            <a:r>
              <a:rPr lang="en" sz="1100">
                <a:solidFill>
                  <a:srgbClr val="475569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 tree that is slightly less accurate individually can receive substantial weight if its mistakes are uncorrelated with the rest of the ensemble.</a:t>
            </a:r>
            <a:endParaRPr sz="1100">
              <a:solidFill>
                <a:srgbClr val="475569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/>
        </p:nvSpPr>
        <p:spPr>
          <a:xfrm>
            <a:off x="394151" y="2232198"/>
            <a:ext cx="6690300" cy="11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3. The Risk Matrix (K)</a:t>
            </a:r>
            <a:endParaRPr sz="1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 finance, risk is the covariance of asset returns—diversification fails if all stocks crash together. In MRF, Risk is correlated mistakes. 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27575" y="530255"/>
            <a:ext cx="8520600" cy="40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0F172A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1. </a:t>
            </a:r>
            <a:r>
              <a:rPr lang="en" sz="1100">
                <a:solidFill>
                  <a:srgbClr val="0F172A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Quadratic Programming Optimization</a:t>
            </a:r>
            <a:endParaRPr sz="1100">
              <a:solidFill>
                <a:srgbClr val="0F172A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139700" marR="1397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50">
              <a:solidFill>
                <a:srgbClr val="1E3A8A"/>
              </a:solidFill>
              <a:highlight>
                <a:srgbClr val="C9DAF8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475569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82" name="Google Shape;82;p17"/>
          <p:cNvSpPr/>
          <p:nvPr/>
        </p:nvSpPr>
        <p:spPr>
          <a:xfrm>
            <a:off x="387461" y="3653616"/>
            <a:ext cx="7631700" cy="621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Binary (Mistake Subsets)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Instead of measuring raw prediction correlation across the whole dataset, we look strictly at the mistake subsets: instances where the probability assigned to the correct label dropped below 0.5. We compute the correlation across False Positives and False Negatives separately, then average them.</a:t>
            </a:r>
            <a:endParaRPr/>
          </a:p>
        </p:txBody>
      </p:sp>
      <p:sp>
        <p:nvSpPr>
          <p:cNvPr id="83" name="Google Shape;83;p17"/>
          <p:cNvSpPr/>
          <p:nvPr/>
        </p:nvSpPr>
        <p:spPr>
          <a:xfrm>
            <a:off x="394150" y="2946064"/>
            <a:ext cx="7631700" cy="621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Regression (Residual Covariance)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We calculate the covariance of the signed residuals (y</a:t>
            </a:r>
            <a:r>
              <a:rPr baseline="-25000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−y</a:t>
            </a:r>
            <a:r>
              <a:rPr baseline="30000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^</a:t>
            </a:r>
            <a:r>
              <a:rPr baseline="-25000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ij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 If Tree A and Tree B both overshoot or both undershoot the target on the exact same data points, their covariance is high, signaling redundant, correlated failure modes.</a:t>
            </a:r>
            <a:endParaRPr/>
          </a:p>
        </p:txBody>
      </p:sp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972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b="1" lang="en" sz="1800">
                <a:solidFill>
                  <a:srgbClr val="1E40A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3. Proposed Architecture: Risk &amp; Return Formulation</a:t>
            </a:r>
            <a:endParaRPr b="1" sz="1800">
              <a:solidFill>
                <a:srgbClr val="1E40A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7"/>
          <p:cNvSpPr/>
          <p:nvPr/>
        </p:nvSpPr>
        <p:spPr>
          <a:xfrm>
            <a:off x="427625" y="902900"/>
            <a:ext cx="7591500" cy="3717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C9DA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39700" marR="13970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50">
                <a:solidFill>
                  <a:srgbClr val="1E3A8A"/>
                </a:solidFill>
                <a:highlight>
                  <a:srgbClr val="C9DAF8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max</a:t>
            </a:r>
            <a:r>
              <a:rPr baseline="-25000" lang="en" sz="1150">
                <a:solidFill>
                  <a:srgbClr val="1E3A8A"/>
                </a:solidFill>
                <a:highlight>
                  <a:srgbClr val="C9DAF8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150">
                <a:solidFill>
                  <a:srgbClr val="1E3A8A"/>
                </a:solidFill>
                <a:highlight>
                  <a:srgbClr val="C9DAF8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[ w</a:t>
            </a:r>
            <a:r>
              <a:rPr baseline="30000" lang="en" sz="1150">
                <a:solidFill>
                  <a:srgbClr val="1E3A8A"/>
                </a:solidFill>
                <a:highlight>
                  <a:srgbClr val="C9DAF8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" sz="1150">
                <a:solidFill>
                  <a:srgbClr val="1E3A8A"/>
                </a:solidFill>
                <a:highlight>
                  <a:srgbClr val="C9DAF8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 - λ w</a:t>
            </a:r>
            <a:r>
              <a:rPr baseline="30000" lang="en" sz="1150">
                <a:solidFill>
                  <a:srgbClr val="1E3A8A"/>
                </a:solidFill>
                <a:highlight>
                  <a:srgbClr val="C9DAF8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" sz="1150">
                <a:solidFill>
                  <a:srgbClr val="1E3A8A"/>
                </a:solidFill>
                <a:highlight>
                  <a:srgbClr val="C9DAF8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K w - γ ||w||</a:t>
            </a:r>
            <a:r>
              <a:rPr baseline="-25000" lang="en" sz="1150">
                <a:solidFill>
                  <a:srgbClr val="1E3A8A"/>
                </a:solidFill>
                <a:highlight>
                  <a:srgbClr val="C9DAF8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aseline="30000" lang="en" sz="1150">
                <a:solidFill>
                  <a:srgbClr val="1E3A8A"/>
                </a:solidFill>
                <a:highlight>
                  <a:srgbClr val="C9DAF8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" sz="1150">
                <a:solidFill>
                  <a:srgbClr val="1E3A8A"/>
                </a:solidFill>
                <a:highlight>
                  <a:srgbClr val="C9DAF8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]   s.t.   ∑ w</a:t>
            </a:r>
            <a:r>
              <a:rPr baseline="-25000" lang="en" sz="1150">
                <a:solidFill>
                  <a:srgbClr val="1E3A8A"/>
                </a:solidFill>
                <a:highlight>
                  <a:srgbClr val="C9DAF8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lang="en" sz="1150">
                <a:solidFill>
                  <a:srgbClr val="1E3A8A"/>
                </a:solidFill>
                <a:highlight>
                  <a:srgbClr val="C9DAF8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= 1,   0 ≤ w</a:t>
            </a:r>
            <a:r>
              <a:rPr baseline="-25000" lang="en" sz="1150">
                <a:solidFill>
                  <a:srgbClr val="1E3A8A"/>
                </a:solidFill>
                <a:highlight>
                  <a:srgbClr val="C9DAF8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lang="en" sz="1150">
                <a:solidFill>
                  <a:srgbClr val="1E3A8A"/>
                </a:solidFill>
                <a:highlight>
                  <a:srgbClr val="C9DAF8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≤ 1</a:t>
            </a:r>
            <a:endParaRPr>
              <a:solidFill>
                <a:srgbClr val="1E40AF"/>
              </a:solidFill>
              <a:highlight>
                <a:srgbClr val="C9DAF8"/>
              </a:highlight>
            </a:endParaRPr>
          </a:p>
        </p:txBody>
      </p:sp>
      <p:sp>
        <p:nvSpPr>
          <p:cNvPr id="86" name="Google Shape;86;p17"/>
          <p:cNvSpPr txBox="1"/>
          <p:nvPr/>
        </p:nvSpPr>
        <p:spPr>
          <a:xfrm>
            <a:off x="411750" y="1356000"/>
            <a:ext cx="8320500" cy="8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F172A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2. Expected Performance / Return Vector (r ∈ R</a:t>
            </a:r>
            <a:r>
              <a:rPr baseline="30000" lang="en" sz="1100">
                <a:solidFill>
                  <a:srgbClr val="0F172A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k</a:t>
            </a:r>
            <a:r>
              <a:rPr lang="en" sz="1100">
                <a:solidFill>
                  <a:srgbClr val="0F172A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)</a:t>
            </a:r>
            <a:endParaRPr sz="1100">
              <a:solidFill>
                <a:srgbClr val="0F172A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475569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Evaluated strictly on </a:t>
            </a:r>
            <a:r>
              <a:rPr b="1" lang="en" sz="1100">
                <a:solidFill>
                  <a:srgbClr val="0F172A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Out-of-Bag (OOB)</a:t>
            </a:r>
            <a:r>
              <a:rPr lang="en" sz="1100">
                <a:solidFill>
                  <a:srgbClr val="475569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samples to prevent in-sample bias:</a:t>
            </a:r>
            <a:br>
              <a:rPr lang="en" sz="1100">
                <a:solidFill>
                  <a:srgbClr val="475569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</a:br>
            <a:r>
              <a:rPr lang="en" sz="1100">
                <a:solidFill>
                  <a:srgbClr val="475569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• </a:t>
            </a:r>
            <a:r>
              <a:rPr i="1" lang="en" sz="1100">
                <a:solidFill>
                  <a:srgbClr val="475569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Binary:</a:t>
            </a:r>
            <a:r>
              <a:rPr lang="en" sz="1100">
                <a:solidFill>
                  <a:srgbClr val="475569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PR-AUC  • </a:t>
            </a:r>
            <a:r>
              <a:rPr i="1" lang="en" sz="1100">
                <a:solidFill>
                  <a:srgbClr val="475569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Multiclass:</a:t>
            </a:r>
            <a:r>
              <a:rPr lang="en" sz="1100">
                <a:solidFill>
                  <a:srgbClr val="475569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Macro F1  • </a:t>
            </a:r>
            <a:r>
              <a:rPr i="1" lang="en" sz="1100">
                <a:solidFill>
                  <a:srgbClr val="475569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Regression:</a:t>
            </a:r>
            <a:r>
              <a:rPr lang="en" sz="1100">
                <a:solidFill>
                  <a:srgbClr val="475569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r</a:t>
            </a:r>
            <a:r>
              <a:rPr baseline="-25000" lang="en" sz="1100">
                <a:solidFill>
                  <a:srgbClr val="475569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j</a:t>
            </a:r>
            <a:r>
              <a:rPr lang="en" sz="1100">
                <a:solidFill>
                  <a:srgbClr val="475569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= exp(-MAPE</a:t>
            </a:r>
            <a:r>
              <a:rPr baseline="-25000" lang="en" sz="1100">
                <a:solidFill>
                  <a:srgbClr val="475569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j</a:t>
            </a:r>
            <a:r>
              <a:rPr lang="en" sz="1100">
                <a:solidFill>
                  <a:srgbClr val="475569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) ∈ [0, 1]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7" name="Google Shape;87;p17"/>
          <p:cNvSpPr/>
          <p:nvPr/>
        </p:nvSpPr>
        <p:spPr>
          <a:xfrm>
            <a:off x="394150" y="4380788"/>
            <a:ext cx="7631700" cy="621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Multiclass (Class-wise Mistake Correlation)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Generalizes the binary idea: for each class c, filter only the samples where mistakes occurred, measure how strongly the trees' predicted probability vectors correlate on those mistakes, and average across all classes C.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b="1" lang="en" sz="1800">
                <a:solidFill>
                  <a:srgbClr val="1E40A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4. Results: Classification Tasks</a:t>
            </a:r>
            <a:endParaRPr b="1" sz="1800">
              <a:solidFill>
                <a:srgbClr val="1E40A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93" name="Google Shape;93;p18"/>
          <p:cNvGraphicFramePr/>
          <p:nvPr/>
        </p:nvGraphicFramePr>
        <p:xfrm>
          <a:off x="690497" y="1730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{3F6AB2FA-8651-4296-9F3D-116103A776EF}</a:tableStyleId>
              </a:tblPr>
              <a:tblGrid>
                <a:gridCol w="704850"/>
                <a:gridCol w="1333500"/>
                <a:gridCol w="666750"/>
                <a:gridCol w="866775"/>
              </a:tblGrid>
              <a:tr h="257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0F172A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Dataset</a:t>
                      </a:r>
                      <a:endParaRPr sz="900">
                        <a:solidFill>
                          <a:srgbClr val="0F172A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0F172A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Model</a:t>
                      </a:r>
                      <a:endParaRPr sz="900">
                        <a:solidFill>
                          <a:srgbClr val="0F172A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0F172A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Paper</a:t>
                      </a:r>
                      <a:endParaRPr sz="900">
                        <a:solidFill>
                          <a:srgbClr val="0F172A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0F172A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Replicated</a:t>
                      </a:r>
                      <a:endParaRPr sz="900">
                        <a:solidFill>
                          <a:srgbClr val="0F172A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0F172A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pen</a:t>
                      </a:r>
                      <a:endParaRPr b="1" sz="900">
                        <a:solidFill>
                          <a:srgbClr val="0F172A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4748B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(10 cls)</a:t>
                      </a:r>
                      <a:endParaRPr sz="900">
                        <a:solidFill>
                          <a:srgbClr val="64748B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475569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Standard RF</a:t>
                      </a:r>
                      <a:endParaRPr sz="900">
                        <a:solidFill>
                          <a:srgbClr val="475569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475569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0.9819</a:t>
                      </a:r>
                      <a:endParaRPr sz="900">
                        <a:solidFill>
                          <a:srgbClr val="475569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475569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0.9828</a:t>
                      </a:r>
                      <a:endParaRPr sz="900">
                        <a:solidFill>
                          <a:srgbClr val="475569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47625" marB="47625" marR="76200" marL="7620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475569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IVRF (Variance)</a:t>
                      </a:r>
                      <a:endParaRPr sz="900">
                        <a:solidFill>
                          <a:srgbClr val="475569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475569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0.9819</a:t>
                      </a:r>
                      <a:endParaRPr sz="900">
                        <a:solidFill>
                          <a:srgbClr val="475569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475569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0.9828</a:t>
                      </a:r>
                      <a:endParaRPr sz="900">
                        <a:solidFill>
                          <a:srgbClr val="475569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47625" marB="47625" marR="76200" marL="7620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0F172A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MRF (Proposed)</a:t>
                      </a:r>
                      <a:endParaRPr b="1" sz="900">
                        <a:solidFill>
                          <a:srgbClr val="0F172A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0F172A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0.9823</a:t>
                      </a:r>
                      <a:endParaRPr b="1" sz="900">
                        <a:solidFill>
                          <a:srgbClr val="0F172A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0F172A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0.9829</a:t>
                      </a:r>
                      <a:endParaRPr b="1" sz="900">
                        <a:solidFill>
                          <a:srgbClr val="0F172A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47625" marB="47625" marR="76200" marL="7620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475569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XGBoost</a:t>
                      </a:r>
                      <a:endParaRPr sz="900">
                        <a:solidFill>
                          <a:srgbClr val="475569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475569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0.9809</a:t>
                      </a:r>
                      <a:endParaRPr sz="900">
                        <a:solidFill>
                          <a:srgbClr val="475569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475569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0.9898</a:t>
                      </a:r>
                      <a:endParaRPr sz="900">
                        <a:solidFill>
                          <a:srgbClr val="475569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0F172A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student</a:t>
                      </a:r>
                      <a:endParaRPr b="1" sz="900">
                        <a:solidFill>
                          <a:srgbClr val="0F172A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4748B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(3 cls)</a:t>
                      </a:r>
                      <a:endParaRPr sz="900">
                        <a:solidFill>
                          <a:srgbClr val="64748B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475569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Standard RF</a:t>
                      </a:r>
                      <a:endParaRPr sz="900">
                        <a:solidFill>
                          <a:srgbClr val="475569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475569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0.6988</a:t>
                      </a:r>
                      <a:endParaRPr sz="900">
                        <a:solidFill>
                          <a:srgbClr val="475569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475569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0.7059</a:t>
                      </a:r>
                      <a:endParaRPr sz="900">
                        <a:solidFill>
                          <a:srgbClr val="475569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47625" marB="47625" marR="76200" marL="7620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475569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IVRF (Variance)</a:t>
                      </a:r>
                      <a:endParaRPr sz="900">
                        <a:solidFill>
                          <a:srgbClr val="475569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475569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0.6988</a:t>
                      </a:r>
                      <a:endParaRPr sz="900">
                        <a:solidFill>
                          <a:srgbClr val="475569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475569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0.7064</a:t>
                      </a:r>
                      <a:endParaRPr sz="900">
                        <a:solidFill>
                          <a:srgbClr val="475569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47625" marB="47625" marR="76200" marL="7620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0F172A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MRF (Proposed)</a:t>
                      </a:r>
                      <a:endParaRPr b="1" sz="900">
                        <a:solidFill>
                          <a:srgbClr val="0F172A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0F172A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0.6993</a:t>
                      </a:r>
                      <a:endParaRPr b="1" sz="900">
                        <a:solidFill>
                          <a:srgbClr val="0F172A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0F172A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0.7063</a:t>
                      </a:r>
                      <a:endParaRPr b="1" sz="900">
                        <a:solidFill>
                          <a:srgbClr val="0F172A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47625" marB="47625" marR="76200" marL="7620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475569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XGBoost</a:t>
                      </a:r>
                      <a:endParaRPr sz="900">
                        <a:solidFill>
                          <a:srgbClr val="475569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475569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0.6685</a:t>
                      </a:r>
                      <a:endParaRPr sz="900">
                        <a:solidFill>
                          <a:srgbClr val="475569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475569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0.7005</a:t>
                      </a:r>
                      <a:endParaRPr sz="900">
                        <a:solidFill>
                          <a:srgbClr val="475569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4" name="Google Shape;94;p18"/>
          <p:cNvGraphicFramePr/>
          <p:nvPr/>
        </p:nvGraphicFramePr>
        <p:xfrm>
          <a:off x="5332439" y="173654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{3F6AB2FA-8651-4296-9F3D-116103A776EF}</a:tableStyleId>
              </a:tblPr>
              <a:tblGrid>
                <a:gridCol w="800100"/>
                <a:gridCol w="1266825"/>
                <a:gridCol w="638175"/>
                <a:gridCol w="828675"/>
              </a:tblGrid>
              <a:tr h="257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0F172A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Dataset</a:t>
                      </a:r>
                      <a:endParaRPr sz="900">
                        <a:solidFill>
                          <a:srgbClr val="0F172A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0F172A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Model</a:t>
                      </a:r>
                      <a:endParaRPr sz="900">
                        <a:solidFill>
                          <a:srgbClr val="0F172A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0F172A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Paper</a:t>
                      </a:r>
                      <a:endParaRPr sz="900">
                        <a:solidFill>
                          <a:srgbClr val="0F172A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0F172A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Replicated</a:t>
                      </a:r>
                      <a:endParaRPr sz="900">
                        <a:solidFill>
                          <a:srgbClr val="0F172A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0F172A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shoppers</a:t>
                      </a:r>
                      <a:endParaRPr b="1" sz="900">
                        <a:solidFill>
                          <a:srgbClr val="0F172A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4748B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(imbalance)</a:t>
                      </a:r>
                      <a:endParaRPr sz="900">
                        <a:solidFill>
                          <a:srgbClr val="64748B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475569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Standard RF</a:t>
                      </a:r>
                      <a:endParaRPr sz="900">
                        <a:solidFill>
                          <a:srgbClr val="475569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475569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0.7244</a:t>
                      </a:r>
                      <a:endParaRPr sz="900">
                        <a:solidFill>
                          <a:srgbClr val="475569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475569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0.7493</a:t>
                      </a:r>
                      <a:endParaRPr sz="900">
                        <a:solidFill>
                          <a:srgbClr val="475569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47625" marB="47625" marR="76200" marL="7620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475569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IVRF (Variance)</a:t>
                      </a:r>
                      <a:endParaRPr sz="900">
                        <a:solidFill>
                          <a:srgbClr val="475569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475569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0.7312</a:t>
                      </a:r>
                      <a:endParaRPr sz="900">
                        <a:solidFill>
                          <a:srgbClr val="475569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475569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0.7498</a:t>
                      </a:r>
                      <a:endParaRPr sz="900">
                        <a:solidFill>
                          <a:srgbClr val="475569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47625" marB="47625" marR="76200" marL="7620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0F172A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MRF (Proposed)</a:t>
                      </a:r>
                      <a:endParaRPr b="1" sz="900">
                        <a:solidFill>
                          <a:srgbClr val="0F172A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0F172A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0.7448</a:t>
                      </a:r>
                      <a:endParaRPr b="1" sz="900">
                        <a:solidFill>
                          <a:srgbClr val="0F172A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0F172A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0.7504</a:t>
                      </a:r>
                      <a:endParaRPr b="1" sz="900">
                        <a:solidFill>
                          <a:srgbClr val="0F172A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47625" marB="47625" marR="76200" marL="7620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475569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XGBoost</a:t>
                      </a:r>
                      <a:endParaRPr sz="900">
                        <a:solidFill>
                          <a:srgbClr val="475569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475569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0.7194</a:t>
                      </a:r>
                      <a:endParaRPr sz="900">
                        <a:solidFill>
                          <a:srgbClr val="475569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475569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0.7550</a:t>
                      </a:r>
                      <a:endParaRPr sz="900">
                        <a:solidFill>
                          <a:srgbClr val="475569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0F172A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bank_mkt</a:t>
                      </a:r>
                      <a:endParaRPr b="1" sz="900">
                        <a:solidFill>
                          <a:srgbClr val="0F172A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4748B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(recall)</a:t>
                      </a:r>
                      <a:endParaRPr sz="900">
                        <a:solidFill>
                          <a:srgbClr val="64748B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475569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Standard RF</a:t>
                      </a:r>
                      <a:endParaRPr sz="900">
                        <a:solidFill>
                          <a:srgbClr val="475569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475569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0.6280</a:t>
                      </a:r>
                      <a:endParaRPr sz="900">
                        <a:solidFill>
                          <a:srgbClr val="475569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475569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0.5968</a:t>
                      </a:r>
                      <a:endParaRPr sz="900">
                        <a:solidFill>
                          <a:srgbClr val="475569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47625" marB="47625" marR="76200" marL="7620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475569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IVRF (Variance)</a:t>
                      </a:r>
                      <a:endParaRPr sz="900">
                        <a:solidFill>
                          <a:srgbClr val="475569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475569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0.6291</a:t>
                      </a:r>
                      <a:endParaRPr sz="900">
                        <a:solidFill>
                          <a:srgbClr val="475569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475569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0.5968</a:t>
                      </a:r>
                      <a:endParaRPr sz="900">
                        <a:solidFill>
                          <a:srgbClr val="475569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47625" marB="47625" marR="76200" marL="7620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0F172A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MRF (Proposed)</a:t>
                      </a:r>
                      <a:endParaRPr b="1" sz="900">
                        <a:solidFill>
                          <a:srgbClr val="0F172A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0F172A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0.6474</a:t>
                      </a:r>
                      <a:endParaRPr b="1" sz="900">
                        <a:solidFill>
                          <a:srgbClr val="0F172A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0F172A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0.5961</a:t>
                      </a:r>
                      <a:endParaRPr b="1" sz="900">
                        <a:solidFill>
                          <a:srgbClr val="0F172A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47625" marB="47625" marR="76200" marL="7620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475569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XGBoost</a:t>
                      </a:r>
                      <a:endParaRPr sz="900">
                        <a:solidFill>
                          <a:srgbClr val="475569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475569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0.6590</a:t>
                      </a:r>
                      <a:endParaRPr sz="900">
                        <a:solidFill>
                          <a:srgbClr val="475569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475569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0.6257</a:t>
                      </a:r>
                      <a:endParaRPr sz="900">
                        <a:solidFill>
                          <a:srgbClr val="475569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5" name="Google Shape;95;p18"/>
          <p:cNvSpPr txBox="1"/>
          <p:nvPr/>
        </p:nvSpPr>
        <p:spPr>
          <a:xfrm>
            <a:off x="459599" y="-121050"/>
            <a:ext cx="25494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39700" marR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pc="38" sz="850">
                <a:solidFill>
                  <a:srgbClr val="1E40AF"/>
                </a:solidFill>
                <a:highlight>
                  <a:srgbClr val="DBEAFE"/>
                </a:highlight>
                <a:latin typeface="Roboto"/>
                <a:ea typeface="Roboto"/>
                <a:cs typeface="Roboto"/>
                <a:sym typeface="Roboto"/>
              </a:rPr>
              <a:t>Multiclass</a:t>
            </a:r>
            <a:endParaRPr b="1" spc="38" sz="850">
              <a:solidFill>
                <a:srgbClr val="1E40AF"/>
              </a:solidFill>
              <a:highlight>
                <a:srgbClr val="DBEAFE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139700" marR="13970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" sz="1100">
                <a:solidFill>
                  <a:srgbClr val="0F172A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Macro F1 (Higher is Better ↑) </a:t>
            </a:r>
            <a:endParaRPr sz="1100">
              <a:solidFill>
                <a:srgbClr val="0F172A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" name="Google Shape;96;p18"/>
          <p:cNvSpPr txBox="1"/>
          <p:nvPr/>
        </p:nvSpPr>
        <p:spPr>
          <a:xfrm>
            <a:off x="5350825" y="994612"/>
            <a:ext cx="2126400" cy="5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pc="38" sz="850">
                <a:solidFill>
                  <a:srgbClr val="15803D"/>
                </a:solidFill>
                <a:highlight>
                  <a:srgbClr val="DCFCE7"/>
                </a:highlight>
                <a:latin typeface="Roboto"/>
                <a:ea typeface="Roboto"/>
                <a:cs typeface="Roboto"/>
                <a:sym typeface="Roboto"/>
              </a:rPr>
              <a:t>Binary</a:t>
            </a:r>
            <a:endParaRPr b="1" spc="38" sz="850">
              <a:solidFill>
                <a:srgbClr val="15803D"/>
              </a:solidFill>
              <a:highlight>
                <a:srgbClr val="DCFCE7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pc="38" sz="850">
              <a:solidFill>
                <a:srgbClr val="15803D"/>
              </a:solidFill>
              <a:highlight>
                <a:srgbClr val="DCFCE7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0F172A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PR-AUC (Higher is Better ↑)</a:t>
            </a:r>
            <a:endParaRPr sz="1100">
              <a:solidFill>
                <a:srgbClr val="0F172A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b="1" lang="en" sz="1800">
                <a:solidFill>
                  <a:srgbClr val="1E40A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5. Results: Regression Tasks</a:t>
            </a:r>
            <a:endParaRPr b="1" sz="1800">
              <a:solidFill>
                <a:srgbClr val="1E40A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02" name="Google Shape;102;p19"/>
          <p:cNvGraphicFramePr/>
          <p:nvPr/>
        </p:nvGraphicFramePr>
        <p:xfrm>
          <a:off x="486068" y="156890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{3F6AB2FA-8651-4296-9F3D-116103A776EF}</a:tableStyleId>
              </a:tblPr>
              <a:tblGrid>
                <a:gridCol w="933450"/>
                <a:gridCol w="1333500"/>
                <a:gridCol w="666750"/>
                <a:gridCol w="1106025"/>
              </a:tblGrid>
              <a:tr h="257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0F172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Dataset</a:t>
                      </a:r>
                      <a:endParaRPr sz="900">
                        <a:solidFill>
                          <a:srgbClr val="0F172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0F172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Model</a:t>
                      </a:r>
                      <a:endParaRPr sz="900">
                        <a:solidFill>
                          <a:srgbClr val="0F172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0F172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Paper</a:t>
                      </a:r>
                      <a:endParaRPr sz="900">
                        <a:solidFill>
                          <a:srgbClr val="0F172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0F172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Replicated</a:t>
                      </a:r>
                      <a:endParaRPr sz="900">
                        <a:solidFill>
                          <a:srgbClr val="0F172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0F172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wine</a:t>
                      </a:r>
                      <a:endParaRPr b="1" sz="900">
                        <a:solidFill>
                          <a:srgbClr val="0F172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4748B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(quality)</a:t>
                      </a:r>
                      <a:endParaRPr sz="900">
                        <a:solidFill>
                          <a:srgbClr val="64748B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47556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Standard RF</a:t>
                      </a:r>
                      <a:endParaRPr sz="900">
                        <a:solidFill>
                          <a:srgbClr val="47556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47556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0.5253</a:t>
                      </a:r>
                      <a:endParaRPr sz="900">
                        <a:solidFill>
                          <a:srgbClr val="47556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47556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0.5425</a:t>
                      </a:r>
                      <a:endParaRPr sz="900">
                        <a:solidFill>
                          <a:srgbClr val="47556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47625" marB="47625" marR="76200" marL="7620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47556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IVRF (Variance)</a:t>
                      </a:r>
                      <a:endParaRPr sz="900">
                        <a:solidFill>
                          <a:srgbClr val="47556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47556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0.5252</a:t>
                      </a:r>
                      <a:endParaRPr sz="900">
                        <a:solidFill>
                          <a:srgbClr val="47556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47556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0.5425</a:t>
                      </a:r>
                      <a:endParaRPr sz="900">
                        <a:solidFill>
                          <a:srgbClr val="47556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47625" marB="47625" marR="76200" marL="7620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0F172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MRF (Proposed)</a:t>
                      </a:r>
                      <a:endParaRPr b="1" sz="900">
                        <a:solidFill>
                          <a:srgbClr val="0F172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0F172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0.5242</a:t>
                      </a:r>
                      <a:endParaRPr b="1" sz="900">
                        <a:solidFill>
                          <a:srgbClr val="0F172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0F172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0.5410</a:t>
                      </a:r>
                      <a:endParaRPr b="1" sz="900">
                        <a:solidFill>
                          <a:srgbClr val="0F172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47625" marB="47625" marR="76200" marL="7620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47556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XGBoost</a:t>
                      </a:r>
                      <a:endParaRPr sz="900">
                        <a:solidFill>
                          <a:srgbClr val="47556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47556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0.5537</a:t>
                      </a:r>
                      <a:endParaRPr sz="900">
                        <a:solidFill>
                          <a:srgbClr val="47556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47556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0.5381</a:t>
                      </a:r>
                      <a:endParaRPr sz="900">
                        <a:solidFill>
                          <a:srgbClr val="47556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0F172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supercond.</a:t>
                      </a:r>
                      <a:endParaRPr b="1" sz="900">
                        <a:solidFill>
                          <a:srgbClr val="0F172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4748B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(temp Tc)</a:t>
                      </a:r>
                      <a:endParaRPr sz="900">
                        <a:solidFill>
                          <a:srgbClr val="64748B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47556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Standard RF</a:t>
                      </a:r>
                      <a:endParaRPr sz="900">
                        <a:solidFill>
                          <a:srgbClr val="47556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47556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7.1781</a:t>
                      </a:r>
                      <a:endParaRPr sz="900">
                        <a:solidFill>
                          <a:srgbClr val="47556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47556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6.5900</a:t>
                      </a:r>
                      <a:endParaRPr sz="900">
                        <a:solidFill>
                          <a:srgbClr val="47556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47625" marB="47625" marR="76200" marL="7620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47556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IVRF (Variance)</a:t>
                      </a:r>
                      <a:endParaRPr sz="900">
                        <a:solidFill>
                          <a:srgbClr val="47556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47556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7.1896</a:t>
                      </a:r>
                      <a:endParaRPr sz="900">
                        <a:solidFill>
                          <a:srgbClr val="47556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47556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6.6473</a:t>
                      </a:r>
                      <a:endParaRPr sz="900">
                        <a:solidFill>
                          <a:srgbClr val="47556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47625" marB="47625" marR="76200" marL="7620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0F172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MRF (Proposed)</a:t>
                      </a:r>
                      <a:endParaRPr b="1" sz="900">
                        <a:solidFill>
                          <a:srgbClr val="0F172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0F172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7.1624</a:t>
                      </a:r>
                      <a:endParaRPr b="1" sz="900">
                        <a:solidFill>
                          <a:srgbClr val="0F172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0F172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6.4273</a:t>
                      </a:r>
                      <a:endParaRPr b="1" sz="900">
                        <a:solidFill>
                          <a:srgbClr val="0F172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47625" marB="47625" marR="76200" marL="7620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47556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XGBoost</a:t>
                      </a:r>
                      <a:endParaRPr sz="900">
                        <a:solidFill>
                          <a:srgbClr val="47556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47556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7.5077</a:t>
                      </a:r>
                      <a:endParaRPr sz="900">
                        <a:solidFill>
                          <a:srgbClr val="47556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47556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5.8413</a:t>
                      </a:r>
                      <a:endParaRPr sz="900">
                        <a:solidFill>
                          <a:srgbClr val="47556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L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3" name="Google Shape;103;p19"/>
          <p:cNvSpPr txBox="1"/>
          <p:nvPr/>
        </p:nvSpPr>
        <p:spPr>
          <a:xfrm>
            <a:off x="486075" y="89395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pc="38" sz="850">
                <a:solidFill>
                  <a:srgbClr val="92400E"/>
                </a:solidFill>
                <a:highlight>
                  <a:srgbClr val="FEF3C7"/>
                </a:highlight>
                <a:latin typeface="Roboto"/>
                <a:ea typeface="Roboto"/>
                <a:cs typeface="Roboto"/>
                <a:sym typeface="Roboto"/>
              </a:rPr>
              <a:t>Regression</a:t>
            </a:r>
            <a:endParaRPr b="1" spc="38" sz="850">
              <a:solidFill>
                <a:srgbClr val="92400E"/>
              </a:solidFill>
              <a:highlight>
                <a:srgbClr val="FEF3C7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pc="38" sz="850">
              <a:solidFill>
                <a:srgbClr val="92400E"/>
              </a:solidFill>
              <a:highlight>
                <a:srgbClr val="FEF3C7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F172A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Metric: MAE (Lower is Better ↓)</a:t>
            </a:r>
            <a:endParaRPr sz="1100">
              <a:solidFill>
                <a:srgbClr val="0F172A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19"/>
          <p:cNvSpPr txBox="1"/>
          <p:nvPr/>
        </p:nvSpPr>
        <p:spPr>
          <a:xfrm>
            <a:off x="4815700" y="546050"/>
            <a:ext cx="4098600" cy="39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</a:rPr>
              <a:t>Observations :</a:t>
            </a:r>
            <a:endParaRPr b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1E40AF"/>
                </a:solidFill>
                <a:latin typeface="Roboto"/>
                <a:ea typeface="Roboto"/>
                <a:cs typeface="Roboto"/>
                <a:sym typeface="Roboto"/>
              </a:rPr>
              <a:t>1. Covariance Beats Variance (K &gt; σ²)</a:t>
            </a:r>
            <a:endParaRPr b="1" sz="1000">
              <a:solidFill>
                <a:srgbClr val="1E40A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4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IVRF (penalizing individual tree variance alone without pairwise covariance </a:t>
            </a:r>
            <a:r>
              <a:rPr b="1" lang="en" sz="950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rPr>
              <a:t>K</a:t>
            </a:r>
            <a:r>
              <a:rPr lang="en" sz="95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) consistently fails to beat MRF. Joint error correlation is better suited for ensemble diversification.</a:t>
            </a:r>
            <a:endParaRPr sz="950">
              <a:solidFill>
                <a:srgbClr val="47556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47556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1E40AF"/>
                </a:solidFill>
                <a:latin typeface="Roboto"/>
                <a:ea typeface="Roboto"/>
                <a:cs typeface="Roboto"/>
                <a:sym typeface="Roboto"/>
              </a:rPr>
              <a:t>2. Consistent Top Rank Across All Forests</a:t>
            </a:r>
            <a:endParaRPr b="1" sz="1000">
              <a:solidFill>
                <a:srgbClr val="1E40A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4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In both the original paper and our 20-trial replication, </a:t>
            </a:r>
            <a:r>
              <a:rPr b="1" lang="en" sz="950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rPr>
              <a:t>MRF achieves the lowest MAE among all Random Forest variants</a:t>
            </a:r>
            <a:r>
              <a:rPr lang="en" sz="95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across both regression and </a:t>
            </a:r>
            <a:r>
              <a:rPr lang="en" sz="95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classification</a:t>
            </a:r>
            <a:r>
              <a:rPr lang="en" sz="95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datasets.</a:t>
            </a:r>
            <a:endParaRPr sz="950">
              <a:solidFill>
                <a:srgbClr val="47556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47556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50">
              <a:solidFill>
                <a:srgbClr val="47556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b="1" lang="en" sz="1800">
                <a:solidFill>
                  <a:srgbClr val="1E40A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6. Conclusions &amp; Takeaways</a:t>
            </a:r>
            <a:endParaRPr b="1" sz="1800">
              <a:solidFill>
                <a:srgbClr val="1E40A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20"/>
          <p:cNvSpPr txBox="1"/>
          <p:nvPr>
            <p:ph idx="1" type="body"/>
          </p:nvPr>
        </p:nvSpPr>
        <p:spPr>
          <a:xfrm>
            <a:off x="244814" y="1272869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50">
              <a:solidFill>
                <a:srgbClr val="0F172A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spcBef>
                <a:spcPts val="40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Roboto"/>
              <a:buChar char="●"/>
            </a:pPr>
            <a:r>
              <a:rPr b="1" lang="en" sz="1100">
                <a:solidFill>
                  <a:srgbClr val="0F172A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Modern Portfolio Theory Translates to Ensembles:</a:t>
            </a:r>
            <a:r>
              <a:rPr lang="en" sz="1100">
                <a:solidFill>
                  <a:srgbClr val="475569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Applying Markowitz mean-variance optimization to decision trees effectively balances individual tree accuracy with error diversification.</a:t>
            </a:r>
            <a:endParaRPr sz="1100">
              <a:solidFill>
                <a:srgbClr val="475569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Roboto"/>
              <a:buChar char="●"/>
            </a:pPr>
            <a:r>
              <a:rPr b="1" lang="en" sz="1100">
                <a:solidFill>
                  <a:srgbClr val="0F172A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Mistake Covariance is Essential:</a:t>
            </a:r>
            <a:r>
              <a:rPr lang="en" sz="1100">
                <a:solidFill>
                  <a:srgbClr val="475569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Comparing MRF against IVRF confirms that joint error correlation (K) produces superior ensembles compared to evaluating tree variance in isolation.</a:t>
            </a:r>
            <a:endParaRPr sz="1100">
              <a:solidFill>
                <a:srgbClr val="475569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Roboto"/>
              <a:buChar char="●"/>
            </a:pPr>
            <a:r>
              <a:rPr b="1" lang="en" sz="1100">
                <a:solidFill>
                  <a:srgbClr val="0F172A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Consistent Gains over Standard RF:</a:t>
            </a:r>
            <a:r>
              <a:rPr lang="en" sz="1100">
                <a:solidFill>
                  <a:srgbClr val="475569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Across classification and regression tasks, MRF consistently improves upon the uniform Random Forest (w = 1/k).</a:t>
            </a:r>
            <a:endParaRPr sz="1100">
              <a:solidFill>
                <a:srgbClr val="475569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Roboto"/>
              <a:buChar char="●"/>
            </a:pPr>
            <a:r>
              <a:rPr b="1" lang="en" sz="1100">
                <a:solidFill>
                  <a:srgbClr val="0F172A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Plug-and-Play Post-Processing:</a:t>
            </a:r>
            <a:r>
              <a:rPr lang="en" sz="1100">
                <a:solidFill>
                  <a:srgbClr val="475569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MRF optimizes pre-trained trees via convex quadratic programming (CVXPY) without requiring alterations to the underlying tree-growing algorithm.</a:t>
            </a:r>
            <a:endParaRPr sz="1100">
              <a:solidFill>
                <a:srgbClr val="475569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Roboto"/>
              <a:buChar char="●"/>
            </a:pPr>
            <a:r>
              <a:rPr b="1" lang="en" sz="1100">
                <a:solidFill>
                  <a:srgbClr val="0F172A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Replication Verified:</a:t>
            </a:r>
            <a:r>
              <a:rPr lang="en" sz="1100">
                <a:solidFill>
                  <a:srgbClr val="475569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Our 20-trial empirical replication closely reproduces the paper's reported numbers across tasks.</a:t>
            </a:r>
            <a:endParaRPr sz="1100">
              <a:solidFill>
                <a:srgbClr val="475569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9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